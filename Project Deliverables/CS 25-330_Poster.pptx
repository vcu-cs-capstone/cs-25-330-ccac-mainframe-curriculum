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32918400" cx="438912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0368">
          <p15:clr>
            <a:srgbClr val="A4A3A4"/>
          </p15:clr>
        </p15:guide>
        <p15:guide id="2" pos="13824">
          <p15:clr>
            <a:srgbClr val="A4A3A4"/>
          </p15:clr>
        </p15:guide>
      </p15:sldGuideLst>
    </p:ext>
    <p:ext uri="GoogleSlidesCustomDataVersion2">
      <go:slidesCustomData xmlns:go="http://customooxmlschemas.google.com/" r:id="rId7" roundtripDataSignature="AMtx7mg4VnWZgeQysFpR7RfydoWN53A/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0368" orient="horz"/>
        <p:guide pos="1382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141e12800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5" name="Google Shape;85;g3141e128008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yellow rectangular object with black background&#10;&#10;Description automatically generated" id="12" name="Google Shape;1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588046" y="29896909"/>
            <a:ext cx="15298498" cy="18760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3891200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ctrTitle"/>
          </p:nvPr>
        </p:nvSpPr>
        <p:spPr>
          <a:xfrm>
            <a:off x="3291840" y="5387342"/>
            <a:ext cx="37307520" cy="114604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0"/>
              <a:buFont typeface="Calibri"/>
              <a:buNone/>
              <a:defRPr sz="28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4"/>
          <p:cNvSpPr txBox="1"/>
          <p:nvPr>
            <p:ph idx="1" type="subTitle"/>
          </p:nvPr>
        </p:nvSpPr>
        <p:spPr>
          <a:xfrm>
            <a:off x="5486400" y="17289782"/>
            <a:ext cx="32918400" cy="79476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1520"/>
              <a:buNone/>
              <a:defRPr sz="11520"/>
            </a:lvl1pPr>
            <a:lvl2pPr lvl="1" algn="ctr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  <a:defRPr sz="9600"/>
            </a:lvl2pPr>
            <a:lvl3pPr lvl="2" algn="ctr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8640"/>
              <a:buNone/>
              <a:defRPr sz="8640"/>
            </a:lvl3pPr>
            <a:lvl4pPr lvl="3" algn="ctr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/>
            </a:lvl4pPr>
            <a:lvl5pPr lvl="4" algn="ctr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/>
            </a:lvl5pPr>
            <a:lvl6pPr lvl="5" algn="ctr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/>
            </a:lvl6pPr>
            <a:lvl7pPr lvl="6" algn="ctr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/>
            </a:lvl7pPr>
            <a:lvl8pPr lvl="7" algn="ctr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/>
            </a:lvl8pPr>
            <a:lvl9pPr lvl="8" algn="ctr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/>
            </a:lvl9pPr>
          </a:lstStyle>
          <a:p/>
        </p:txBody>
      </p:sp>
      <p:sp>
        <p:nvSpPr>
          <p:cNvPr id="17" name="Google Shape;17;p4"/>
          <p:cNvSpPr txBox="1"/>
          <p:nvPr>
            <p:ph idx="10" type="dt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1" type="ftr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017520" y="8763000"/>
            <a:ext cx="37856160" cy="20886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0" type="dt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1" type="ftr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2994662" y="8206749"/>
            <a:ext cx="37856160" cy="13693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0"/>
              <a:buFont typeface="Calibri"/>
              <a:buNone/>
              <a:defRPr sz="28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2994662" y="22029429"/>
            <a:ext cx="37856160" cy="72008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1520"/>
              <a:buNone/>
              <a:defRPr sz="1152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888888"/>
              </a:buClr>
              <a:buSzPts val="9600"/>
              <a:buNone/>
              <a:defRPr sz="96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888888"/>
              </a:buClr>
              <a:buSzPts val="8640"/>
              <a:buNone/>
              <a:defRPr sz="864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888888"/>
              </a:buClr>
              <a:buSzPts val="7680"/>
              <a:buNone/>
              <a:defRPr sz="768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888888"/>
              </a:buClr>
              <a:buSzPts val="7680"/>
              <a:buNone/>
              <a:defRPr sz="768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888888"/>
              </a:buClr>
              <a:buSzPts val="7680"/>
              <a:buNone/>
              <a:defRPr sz="768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888888"/>
              </a:buClr>
              <a:buSzPts val="7680"/>
              <a:buNone/>
              <a:defRPr sz="768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888888"/>
              </a:buClr>
              <a:buSzPts val="7680"/>
              <a:buNone/>
              <a:defRPr sz="768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888888"/>
              </a:buClr>
              <a:buSzPts val="7680"/>
              <a:buNone/>
              <a:defRPr sz="768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9" name="Google Shape;29;p6"/>
          <p:cNvSpPr txBox="1"/>
          <p:nvPr>
            <p:ph idx="10" type="dt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1" type="ftr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017520" y="8763000"/>
            <a:ext cx="18653760" cy="20886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2" type="body"/>
          </p:nvPr>
        </p:nvSpPr>
        <p:spPr>
          <a:xfrm>
            <a:off x="22219920" y="8763000"/>
            <a:ext cx="18653760" cy="20886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0" type="dt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1" type="ftr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3023237" y="1752607"/>
            <a:ext cx="37856160" cy="6362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1" type="body"/>
          </p:nvPr>
        </p:nvSpPr>
        <p:spPr>
          <a:xfrm>
            <a:off x="3023242" y="8069582"/>
            <a:ext cx="18568032" cy="395477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1520"/>
              <a:buNone/>
              <a:defRPr b="1" sz="11520"/>
            </a:lvl1pPr>
            <a:lvl2pPr indent="-228600" lvl="1" marL="914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  <a:defRPr b="1" sz="9600"/>
            </a:lvl2pPr>
            <a:lvl3pPr indent="-228600" lvl="2" marL="1371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8640"/>
              <a:buNone/>
              <a:defRPr b="1" sz="8640"/>
            </a:lvl3pPr>
            <a:lvl4pPr indent="-228600" lvl="3" marL="1828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b="1" sz="7680"/>
            </a:lvl4pPr>
            <a:lvl5pPr indent="-228600" lvl="4" marL="22860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b="1" sz="7680"/>
            </a:lvl5pPr>
            <a:lvl6pPr indent="-228600" lvl="5" marL="2743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b="1" sz="7680"/>
            </a:lvl6pPr>
            <a:lvl7pPr indent="-228600" lvl="6" marL="3200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b="1" sz="7680"/>
            </a:lvl7pPr>
            <a:lvl8pPr indent="-228600" lvl="7" marL="3657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b="1" sz="7680"/>
            </a:lvl8pPr>
            <a:lvl9pPr indent="-228600" lvl="8" marL="4114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b="1" sz="7680"/>
            </a:lvl9pPr>
          </a:lstStyle>
          <a:p/>
        </p:txBody>
      </p:sp>
      <p:sp>
        <p:nvSpPr>
          <p:cNvPr id="42" name="Google Shape;42;p8"/>
          <p:cNvSpPr txBox="1"/>
          <p:nvPr>
            <p:ph idx="2" type="body"/>
          </p:nvPr>
        </p:nvSpPr>
        <p:spPr>
          <a:xfrm>
            <a:off x="3023242" y="12024360"/>
            <a:ext cx="18568032" cy="176860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3" type="body"/>
          </p:nvPr>
        </p:nvSpPr>
        <p:spPr>
          <a:xfrm>
            <a:off x="22219922" y="8069582"/>
            <a:ext cx="18659477" cy="395477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1520"/>
              <a:buNone/>
              <a:defRPr b="1" sz="11520"/>
            </a:lvl1pPr>
            <a:lvl2pPr indent="-228600" lvl="1" marL="914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  <a:defRPr b="1" sz="9600"/>
            </a:lvl2pPr>
            <a:lvl3pPr indent="-228600" lvl="2" marL="1371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8640"/>
              <a:buNone/>
              <a:defRPr b="1" sz="8640"/>
            </a:lvl3pPr>
            <a:lvl4pPr indent="-228600" lvl="3" marL="1828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b="1" sz="7680"/>
            </a:lvl4pPr>
            <a:lvl5pPr indent="-228600" lvl="4" marL="22860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b="1" sz="7680"/>
            </a:lvl5pPr>
            <a:lvl6pPr indent="-228600" lvl="5" marL="2743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b="1" sz="7680"/>
            </a:lvl6pPr>
            <a:lvl7pPr indent="-228600" lvl="6" marL="3200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b="1" sz="7680"/>
            </a:lvl7pPr>
            <a:lvl8pPr indent="-228600" lvl="7" marL="3657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b="1" sz="7680"/>
            </a:lvl8pPr>
            <a:lvl9pPr indent="-228600" lvl="8" marL="4114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b="1" sz="7680"/>
            </a:lvl9pPr>
          </a:lstStyle>
          <a:p/>
        </p:txBody>
      </p:sp>
      <p:sp>
        <p:nvSpPr>
          <p:cNvPr id="44" name="Google Shape;44;p8"/>
          <p:cNvSpPr txBox="1"/>
          <p:nvPr>
            <p:ph idx="4" type="body"/>
          </p:nvPr>
        </p:nvSpPr>
        <p:spPr>
          <a:xfrm>
            <a:off x="22219922" y="12024360"/>
            <a:ext cx="18659477" cy="176860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8"/>
          <p:cNvSpPr txBox="1"/>
          <p:nvPr>
            <p:ph idx="10" type="dt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8"/>
          <p:cNvSpPr txBox="1"/>
          <p:nvPr>
            <p:ph idx="11" type="ftr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 txBox="1"/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9"/>
          <p:cNvSpPr txBox="1"/>
          <p:nvPr>
            <p:ph idx="10" type="dt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1" type="ftr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2" type="sldNum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/>
          <p:nvPr>
            <p:ph idx="10" type="dt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0"/>
          <p:cNvSpPr txBox="1"/>
          <p:nvPr>
            <p:ph idx="11" type="ftr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type="title"/>
          </p:nvPr>
        </p:nvSpPr>
        <p:spPr>
          <a:xfrm>
            <a:off x="3023237" y="2194560"/>
            <a:ext cx="14156054" cy="76809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60"/>
              <a:buFont typeface="Calibri"/>
              <a:buNone/>
              <a:defRPr sz="1536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18659477" y="4739647"/>
            <a:ext cx="22219920" cy="233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120396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5360"/>
              <a:buChar char="•"/>
              <a:defRPr sz="15360"/>
            </a:lvl1pPr>
            <a:lvl2pPr indent="-1082040" lvl="1" marL="914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3440"/>
              <a:buChar char="•"/>
              <a:defRPr sz="13439"/>
            </a:lvl2pPr>
            <a:lvl3pPr indent="-960120" lvl="2" marL="1371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520"/>
              <a:buChar char="•"/>
              <a:defRPr sz="11520"/>
            </a:lvl3pPr>
            <a:lvl4pPr indent="-838200" lvl="3" marL="1828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/>
            </a:lvl4pPr>
            <a:lvl5pPr indent="-838200" lvl="4" marL="22860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/>
            </a:lvl5pPr>
            <a:lvl6pPr indent="-838200" lvl="5" marL="2743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/>
            </a:lvl6pPr>
            <a:lvl7pPr indent="-838200" lvl="6" marL="3200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/>
            </a:lvl7pPr>
            <a:lvl8pPr indent="-838200" lvl="7" marL="3657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/>
            </a:lvl8pPr>
            <a:lvl9pPr indent="-838200" lvl="8" marL="4114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/>
            </a:lvl9pPr>
          </a:lstStyle>
          <a:p/>
        </p:txBody>
      </p:sp>
      <p:sp>
        <p:nvSpPr>
          <p:cNvPr id="60" name="Google Shape;60;p11"/>
          <p:cNvSpPr txBox="1"/>
          <p:nvPr>
            <p:ph idx="2" type="body"/>
          </p:nvPr>
        </p:nvSpPr>
        <p:spPr>
          <a:xfrm>
            <a:off x="3023237" y="9875520"/>
            <a:ext cx="14156054" cy="18295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/>
            </a:lvl1pPr>
            <a:lvl2pPr indent="-228600" lvl="1" marL="914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6720"/>
              <a:buNone/>
              <a:defRPr sz="6719"/>
            </a:lvl2pPr>
            <a:lvl3pPr indent="-228600" lvl="2" marL="1371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5760"/>
              <a:buNone/>
              <a:defRPr sz="5760"/>
            </a:lvl3pPr>
            <a:lvl4pPr indent="-228600" lvl="3" marL="1828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4pPr>
            <a:lvl5pPr indent="-228600" lvl="4" marL="22860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5pPr>
            <a:lvl6pPr indent="-228600" lvl="5" marL="2743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6pPr>
            <a:lvl7pPr indent="-228600" lvl="6" marL="3200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7pPr>
            <a:lvl8pPr indent="-228600" lvl="7" marL="3657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8pPr>
            <a:lvl9pPr indent="-228600" lvl="8" marL="4114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9pPr>
          </a:lstStyle>
          <a:p/>
        </p:txBody>
      </p:sp>
      <p:sp>
        <p:nvSpPr>
          <p:cNvPr id="61" name="Google Shape;61;p11"/>
          <p:cNvSpPr txBox="1"/>
          <p:nvPr>
            <p:ph idx="10" type="dt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1"/>
          <p:cNvSpPr txBox="1"/>
          <p:nvPr>
            <p:ph idx="11" type="ftr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 txBox="1"/>
          <p:nvPr>
            <p:ph idx="12" type="sldNum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 txBox="1"/>
          <p:nvPr>
            <p:ph type="title"/>
          </p:nvPr>
        </p:nvSpPr>
        <p:spPr>
          <a:xfrm>
            <a:off x="3023237" y="2194560"/>
            <a:ext cx="14156054" cy="76809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60"/>
              <a:buFont typeface="Calibri"/>
              <a:buNone/>
              <a:defRPr sz="1536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2"/>
          <p:cNvSpPr/>
          <p:nvPr>
            <p:ph idx="2" type="pic"/>
          </p:nvPr>
        </p:nvSpPr>
        <p:spPr>
          <a:xfrm>
            <a:off x="18659477" y="4739647"/>
            <a:ext cx="22219920" cy="233934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2"/>
          <p:cNvSpPr txBox="1"/>
          <p:nvPr>
            <p:ph idx="1" type="body"/>
          </p:nvPr>
        </p:nvSpPr>
        <p:spPr>
          <a:xfrm>
            <a:off x="3023237" y="9875520"/>
            <a:ext cx="14156054" cy="18295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/>
            </a:lvl1pPr>
            <a:lvl2pPr indent="-228600" lvl="1" marL="914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6720"/>
              <a:buNone/>
              <a:defRPr sz="6719"/>
            </a:lvl2pPr>
            <a:lvl3pPr indent="-228600" lvl="2" marL="1371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5760"/>
              <a:buNone/>
              <a:defRPr sz="5760"/>
            </a:lvl3pPr>
            <a:lvl4pPr indent="-228600" lvl="3" marL="1828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4pPr>
            <a:lvl5pPr indent="-228600" lvl="4" marL="22860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5pPr>
            <a:lvl6pPr indent="-228600" lvl="5" marL="2743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6pPr>
            <a:lvl7pPr indent="-228600" lvl="6" marL="3200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7pPr>
            <a:lvl8pPr indent="-228600" lvl="7" marL="3657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8pPr>
            <a:lvl9pPr indent="-228600" lvl="8" marL="4114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9pPr>
          </a:lstStyle>
          <a:p/>
        </p:txBody>
      </p:sp>
      <p:sp>
        <p:nvSpPr>
          <p:cNvPr id="68" name="Google Shape;68;p12"/>
          <p:cNvSpPr txBox="1"/>
          <p:nvPr>
            <p:ph idx="10" type="dt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2"/>
          <p:cNvSpPr txBox="1"/>
          <p:nvPr>
            <p:ph idx="11" type="ftr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2" type="sldNum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3"/>
          <p:cNvSpPr txBox="1"/>
          <p:nvPr>
            <p:ph idx="1" type="body"/>
          </p:nvPr>
        </p:nvSpPr>
        <p:spPr>
          <a:xfrm rot="5400000">
            <a:off x="11502389" y="278131"/>
            <a:ext cx="20886422" cy="37856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13"/>
          <p:cNvSpPr txBox="1"/>
          <p:nvPr>
            <p:ph idx="10" type="dt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1" type="ftr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2" type="sldNum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>
            <p:ph type="title"/>
          </p:nvPr>
        </p:nvSpPr>
        <p:spPr>
          <a:xfrm rot="5400000">
            <a:off x="22193251" y="10968991"/>
            <a:ext cx="27896822" cy="946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4"/>
          <p:cNvSpPr txBox="1"/>
          <p:nvPr>
            <p:ph idx="1" type="body"/>
          </p:nvPr>
        </p:nvSpPr>
        <p:spPr>
          <a:xfrm rot="5400000">
            <a:off x="2990851" y="1779271"/>
            <a:ext cx="27896822" cy="27843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14"/>
          <p:cNvSpPr txBox="1"/>
          <p:nvPr>
            <p:ph idx="10" type="dt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1" type="ftr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2" type="sldNum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120"/>
              <a:buFont typeface="Calibri"/>
              <a:buNone/>
              <a:defRPr b="0" i="0" sz="211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3017520" y="8763000"/>
            <a:ext cx="37856160" cy="20886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1082040" lvl="0" marL="457200" marR="0" rtl="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3440"/>
              <a:buFont typeface="Arial"/>
              <a:buChar char="•"/>
              <a:defRPr b="0" i="0" sz="1343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960120" lvl="1" marL="914400" marR="0" rtl="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520"/>
              <a:buFont typeface="Arial"/>
              <a:buChar char="•"/>
              <a:defRPr b="0" i="0" sz="115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38200" lvl="2" marL="1371600" marR="0" rtl="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777239" lvl="3" marL="1828800" marR="0" rtl="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8640"/>
              <a:buFont typeface="Arial"/>
              <a:buChar char="•"/>
              <a:defRPr b="0" i="0" sz="864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777239" lvl="4" marL="2286000" marR="0" rtl="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8640"/>
              <a:buFont typeface="Arial"/>
              <a:buChar char="•"/>
              <a:defRPr b="0" i="0" sz="864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777239" lvl="5" marL="2743200" marR="0" rtl="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8640"/>
              <a:buFont typeface="Arial"/>
              <a:buChar char="•"/>
              <a:defRPr b="0" i="0" sz="864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777239" lvl="6" marL="3200400" marR="0" rtl="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8640"/>
              <a:buFont typeface="Arial"/>
              <a:buChar char="•"/>
              <a:defRPr b="0" i="0" sz="864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777239" lvl="7" marL="3657600" marR="0" rtl="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8640"/>
              <a:buFont typeface="Arial"/>
              <a:buChar char="•"/>
              <a:defRPr b="0" i="0" sz="864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777240" lvl="8" marL="4114800" marR="0" rtl="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8640"/>
              <a:buFont typeface="Arial"/>
              <a:buChar char="•"/>
              <a:defRPr b="0" i="0" sz="864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7.jp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oogle Shape;87;g3141e128008_0_0"/>
          <p:cNvGrpSpPr/>
          <p:nvPr/>
        </p:nvGrpSpPr>
        <p:grpSpPr>
          <a:xfrm>
            <a:off x="31322512" y="15924929"/>
            <a:ext cx="11460141" cy="6562851"/>
            <a:chOff x="30935045" y="13505874"/>
            <a:chExt cx="11460141" cy="6562851"/>
          </a:xfrm>
        </p:grpSpPr>
        <p:sp>
          <p:nvSpPr>
            <p:cNvPr id="88" name="Google Shape;88;g3141e128008_0_0"/>
            <p:cNvSpPr txBox="1"/>
            <p:nvPr/>
          </p:nvSpPr>
          <p:spPr>
            <a:xfrm>
              <a:off x="30935045" y="14390247"/>
              <a:ext cx="11460141" cy="5678478"/>
            </a:xfrm>
            <a:prstGeom prst="rect">
              <a:avLst/>
            </a:prstGeom>
            <a:noFill/>
            <a:ln cap="flat" cmpd="sng" w="76200">
              <a:solidFill>
                <a:srgbClr val="FFC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228600" lIns="457200" spcFirstLastPara="1" rIns="457200" wrap="square" tIns="457200">
              <a:spAutoFit/>
            </a:bodyPr>
            <a:lstStyle/>
            <a:p>
              <a:pPr indent="-45720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000"/>
                <a:buFont typeface="Arial"/>
                <a:buChar char="●"/>
              </a:pPr>
              <a:r>
                <a:rPr b="0" i="0" lang="en-US" sz="3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Use </a:t>
              </a:r>
              <a:r>
                <a:rPr b="1" i="0" lang="en-US" sz="3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Open edX </a:t>
              </a:r>
              <a:r>
                <a:rPr b="0" i="0" lang="en-US" sz="3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– Open source LMS developed for online learning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45720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000"/>
                <a:buFont typeface="Arial"/>
                <a:buChar char="●"/>
              </a:pPr>
              <a:r>
                <a:rPr b="0" i="0" lang="en-US" sz="3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Create small learning modules for online learning.  Modules include interactive experiential learning techniques.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0320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000"/>
                <a:buFont typeface="Arial"/>
                <a:buNone/>
              </a:pPr>
              <a:r>
                <a:t/>
              </a:r>
              <a:endPara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45720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000"/>
                <a:buFont typeface="Arial"/>
                <a:buChar char="●"/>
              </a:pPr>
              <a:r>
                <a:rPr b="0" i="0" lang="en-US" sz="3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Users learn at their own pace and receive digital certifications once successfully complete course.</a:t>
              </a:r>
              <a:endPara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g3141e128008_0_0"/>
            <p:cNvSpPr/>
            <p:nvPr/>
          </p:nvSpPr>
          <p:spPr>
            <a:xfrm>
              <a:off x="31795296" y="13505874"/>
              <a:ext cx="9909890" cy="1220100"/>
            </a:xfrm>
            <a:prstGeom prst="parallelogram">
              <a:avLst>
                <a:gd fmla="val 25000" name="adj"/>
              </a:avLst>
            </a:prstGeom>
            <a:solidFill>
              <a:srgbClr val="FFC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rPr b="1" i="0" lang="en-US" sz="4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Methodology</a:t>
              </a:r>
              <a:endParaRPr b="1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0" name="Google Shape;90;g3141e128008_0_0"/>
          <p:cNvSpPr txBox="1"/>
          <p:nvPr/>
        </p:nvSpPr>
        <p:spPr>
          <a:xfrm>
            <a:off x="1807462" y="3115727"/>
            <a:ext cx="41853597" cy="27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0"/>
              <a:buFont typeface="Arial"/>
              <a:buNone/>
            </a:pPr>
            <a:r>
              <a:rPr b="1" i="0" lang="en-US" sz="1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Mainframe Curriculum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Team members: </a:t>
            </a:r>
            <a:r>
              <a:rPr b="0" i="0" lang="en-US" sz="3600" u="none" cap="none" strike="noStrike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Osman Zafar, Long Le, Arbab Arif</a:t>
            </a:r>
            <a:r>
              <a:rPr lang="en-US" sz="3600">
                <a:solidFill>
                  <a:srgbClr val="3C3C3B"/>
                </a:solidFill>
              </a:rPr>
              <a:t>,</a:t>
            </a:r>
            <a:r>
              <a:rPr b="0" i="0" lang="en-US" sz="3600" u="none" cap="none" strike="noStrike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3600" u="none" cap="none" strike="noStrike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Faculty </a:t>
            </a:r>
            <a:r>
              <a:rPr b="1" lang="en-US" sz="3600">
                <a:solidFill>
                  <a:srgbClr val="3C3C3B"/>
                </a:solidFill>
              </a:rPr>
              <a:t>A</a:t>
            </a:r>
            <a:r>
              <a:rPr b="1" i="0" lang="en-US" sz="3600" u="none" cap="none" strike="noStrike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dvis</a:t>
            </a:r>
            <a:r>
              <a:rPr b="1" lang="en-US" sz="3600">
                <a:solidFill>
                  <a:srgbClr val="3C3C3B"/>
                </a:solidFill>
                <a:extLst>
                  <a:ext uri="http://customooxmlschemas.google.com/">
                    <go:slidesCustomData xmlns:go="http://customooxmlschemas.google.com/" textRoundtripDataId="1"/>
                  </a:ext>
                </a:extLst>
              </a:rPr>
              <a:t>o</a:t>
            </a:r>
            <a:r>
              <a:rPr b="1" i="0" lang="en-US" sz="3600" u="none" cap="none" strike="noStrike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2"/>
                  </a:ext>
                </a:extLst>
              </a:rPr>
              <a:t>r</a:t>
            </a:r>
            <a:r>
              <a:rPr b="1" i="0" lang="en-US" sz="3600" u="none" cap="none" strike="noStrike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3600">
                <a:solidFill>
                  <a:srgbClr val="3C3C3B"/>
                </a:solidFill>
              </a:rPr>
              <a:t>Ahmet Sonmez</a:t>
            </a:r>
            <a:r>
              <a:rPr b="0" i="0" lang="en-US" sz="3600" u="none" cap="none" strike="noStrike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, Ph.D. </a:t>
            </a:r>
            <a:r>
              <a:rPr b="1" i="0" lang="en-US" sz="3600" u="none" cap="none" strike="noStrike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Sponsor: </a:t>
            </a:r>
            <a:r>
              <a:rPr lang="en-US" sz="3600">
                <a:solidFill>
                  <a:srgbClr val="3C3C3B"/>
                </a:solidFill>
              </a:rPr>
              <a:t>VCU</a:t>
            </a:r>
            <a:r>
              <a:rPr b="0" i="0" lang="en-US" sz="3600" u="none" cap="none" strike="noStrike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US" sz="3600">
                <a:solidFill>
                  <a:srgbClr val="3C3C3B"/>
                </a:solidFill>
              </a:rPr>
              <a:t>Mentor</a:t>
            </a:r>
            <a:r>
              <a:rPr b="1" lang="en-US" sz="3600">
                <a:solidFill>
                  <a:srgbClr val="3C3C3B"/>
                </a:solidFill>
              </a:rPr>
              <a:t>: </a:t>
            </a:r>
            <a:r>
              <a:rPr lang="en-US" sz="3600">
                <a:solidFill>
                  <a:srgbClr val="3C3C3B"/>
                </a:solidFill>
              </a:rPr>
              <a:t>Robert Dahlberg, Ph.D</a:t>
            </a:r>
            <a:endParaRPr b="1" i="0" sz="4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g3141e128008_0_0"/>
          <p:cNvSpPr txBox="1"/>
          <p:nvPr/>
        </p:nvSpPr>
        <p:spPr>
          <a:xfrm>
            <a:off x="37966022" y="830849"/>
            <a:ext cx="49638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rgbClr val="77C159"/>
                </a:solidFill>
                <a:latin typeface="Arial"/>
                <a:ea typeface="Arial"/>
                <a:cs typeface="Arial"/>
                <a:sym typeface="Arial"/>
              </a:rPr>
              <a:t>25-330</a:t>
            </a:r>
            <a:endParaRPr b="0" i="0" sz="8000" u="none" cap="none" strike="noStrike">
              <a:solidFill>
                <a:srgbClr val="77C1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" name="Google Shape;92;g3141e128008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172169" y="8232409"/>
            <a:ext cx="14745544" cy="67069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3" name="Google Shape;93;g3141e128008_0_0"/>
          <p:cNvGrpSpPr/>
          <p:nvPr/>
        </p:nvGrpSpPr>
        <p:grpSpPr>
          <a:xfrm>
            <a:off x="1508726" y="6455345"/>
            <a:ext cx="11713500" cy="9328864"/>
            <a:chOff x="1858457" y="6499061"/>
            <a:chExt cx="11713500" cy="9328864"/>
          </a:xfrm>
        </p:grpSpPr>
        <p:sp>
          <p:nvSpPr>
            <p:cNvPr id="94" name="Google Shape;94;g3141e128008_0_0"/>
            <p:cNvSpPr/>
            <p:nvPr/>
          </p:nvSpPr>
          <p:spPr>
            <a:xfrm>
              <a:off x="2716656" y="6499061"/>
              <a:ext cx="9909890" cy="1220100"/>
            </a:xfrm>
            <a:prstGeom prst="parallelogram">
              <a:avLst>
                <a:gd fmla="val 25000" name="adj"/>
              </a:avLst>
            </a:prstGeom>
            <a:solidFill>
              <a:srgbClr val="FFC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rPr b="1" i="0" lang="en-US" sz="4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Problem Statement</a:t>
              </a:r>
              <a:endParaRPr b="1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g3141e128008_0_0"/>
            <p:cNvSpPr txBox="1"/>
            <p:nvPr/>
          </p:nvSpPr>
          <p:spPr>
            <a:xfrm>
              <a:off x="1858457" y="7471791"/>
              <a:ext cx="11713500" cy="8356134"/>
            </a:xfrm>
            <a:prstGeom prst="rect">
              <a:avLst/>
            </a:prstGeom>
            <a:noFill/>
            <a:ln cap="flat" cmpd="sng" w="76200">
              <a:solidFill>
                <a:srgbClr val="FFC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228600" lIns="457200" spcFirstLastPara="1" rIns="457200" wrap="square" tIns="457200">
              <a:spAutoFit/>
            </a:bodyPr>
            <a:lstStyle/>
            <a:p>
              <a:pPr indent="-457200" lvl="0" marL="45720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Char char="●"/>
              </a:pPr>
              <a:r>
                <a:rPr b="0" i="0" lang="en-US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Financial, government, retail, healthcare, logistics and insurance companies in the world use Mainframes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571500" lvl="1" marL="10287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Noto Sans Symbols"/>
                <a:buChar char="⮚"/>
              </a:pPr>
              <a:r>
                <a:rPr b="0" i="0" lang="en-US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71% of Fortune 500 companies use them</a:t>
              </a:r>
              <a:endPara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571500" lvl="1" marL="102870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Noto Sans Symbols"/>
                <a:buChar char="⮚"/>
              </a:pPr>
              <a:r>
                <a:rPr b="0" i="0" lang="en-US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70-80% of the world’s data and 90% of all credit card transactions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91440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457200" lvl="0" marL="45720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Char char="●"/>
              </a:pPr>
              <a:r>
                <a:rPr b="0" i="0" lang="en-US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There is a severe lack of Mainframe talent to replace the current aging workforce with are retiring at accelerating rate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45720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457200" lvl="0" marL="45720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Char char="●"/>
              </a:pPr>
              <a:r>
                <a:rPr b="0" i="0" lang="en-US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Continued existence of Mainframe dependent on maintaining skills in the workforce</a:t>
              </a:r>
              <a:endPara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6" name="Google Shape;96;g3141e128008_0_0"/>
          <p:cNvGrpSpPr/>
          <p:nvPr/>
        </p:nvGrpSpPr>
        <p:grpSpPr>
          <a:xfrm>
            <a:off x="1528847" y="16790684"/>
            <a:ext cx="11713500" cy="5466143"/>
            <a:chOff x="1528847" y="16113661"/>
            <a:chExt cx="11713500" cy="5466143"/>
          </a:xfrm>
        </p:grpSpPr>
        <p:sp>
          <p:nvSpPr>
            <p:cNvPr id="97" name="Google Shape;97;g3141e128008_0_0"/>
            <p:cNvSpPr/>
            <p:nvPr/>
          </p:nvSpPr>
          <p:spPr>
            <a:xfrm>
              <a:off x="2207755" y="16113661"/>
              <a:ext cx="10418791" cy="1220100"/>
            </a:xfrm>
            <a:prstGeom prst="parallelogram">
              <a:avLst>
                <a:gd fmla="val 25000" name="adj"/>
              </a:avLst>
            </a:prstGeom>
            <a:solidFill>
              <a:srgbClr val="FFC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rPr b="1" i="0" lang="en-US" sz="4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Existing Solutions</a:t>
              </a:r>
              <a:endParaRPr b="1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g3141e128008_0_0"/>
            <p:cNvSpPr txBox="1"/>
            <p:nvPr/>
          </p:nvSpPr>
          <p:spPr>
            <a:xfrm>
              <a:off x="1528847" y="17008404"/>
              <a:ext cx="11713500" cy="4571400"/>
            </a:xfrm>
            <a:prstGeom prst="rect">
              <a:avLst/>
            </a:prstGeom>
            <a:noFill/>
            <a:ln cap="flat" cmpd="sng" w="76200">
              <a:solidFill>
                <a:srgbClr val="FFC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228600" lIns="457200" spcFirstLastPara="1" rIns="457200" wrap="square" tIns="457200">
              <a:spAutoFit/>
            </a:bodyPr>
            <a:lstStyle/>
            <a:p>
              <a:pPr indent="-45720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Arial"/>
                <a:buChar char="●"/>
              </a:pPr>
              <a:r>
                <a:rPr b="0" i="0" lang="en-US" sz="3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IBM Z Xplorer Certification – not reflective of industry usage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45720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Arial"/>
                <a:buChar char="●"/>
              </a:pPr>
              <a:r>
                <a:rPr b="0" i="0" lang="en-US" sz="3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IBM Skills certification – hard to find and confusing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45720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Arial"/>
                <a:buChar char="●"/>
              </a:pPr>
              <a:r>
                <a:rPr b="0" i="0" lang="en-US" sz="3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 few Universities have  Mainframe courses: @ 7 universities in US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9" name="Google Shape;99;g3141e128008_0_0"/>
          <p:cNvGrpSpPr/>
          <p:nvPr/>
        </p:nvGrpSpPr>
        <p:grpSpPr>
          <a:xfrm>
            <a:off x="1528847" y="22725957"/>
            <a:ext cx="11713500" cy="6529362"/>
            <a:chOff x="1528847" y="22916321"/>
            <a:chExt cx="11713500" cy="6529362"/>
          </a:xfrm>
        </p:grpSpPr>
        <p:sp>
          <p:nvSpPr>
            <p:cNvPr id="100" name="Google Shape;100;g3141e128008_0_0"/>
            <p:cNvSpPr txBox="1"/>
            <p:nvPr/>
          </p:nvSpPr>
          <p:spPr>
            <a:xfrm>
              <a:off x="1528847" y="23765783"/>
              <a:ext cx="11713500" cy="5679900"/>
            </a:xfrm>
            <a:prstGeom prst="rect">
              <a:avLst/>
            </a:prstGeom>
            <a:noFill/>
            <a:ln cap="flat" cmpd="sng" w="76200">
              <a:solidFill>
                <a:srgbClr val="FFC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228600" lIns="457200" spcFirstLastPara="1" rIns="457200" wrap="square" tIns="457200">
              <a:spAutoFit/>
            </a:bodyPr>
            <a:lstStyle/>
            <a:p>
              <a:pPr indent="-20320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000"/>
                <a:buFont typeface="Arial"/>
                <a:buNone/>
              </a:pPr>
              <a:r>
                <a:t/>
              </a:r>
              <a:endPara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45720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Arial"/>
                <a:buChar char="●"/>
              </a:pPr>
              <a:r>
                <a:rPr b="0" i="0" lang="en-US" sz="3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Support more environmentally friendly system 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571500" lvl="1" marL="10287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Noto Sans Symbols"/>
                <a:buChar char="⮚"/>
              </a:pPr>
              <a:r>
                <a:rPr b="0" i="0" lang="en-US" sz="3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70% more energy efficiency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571500" lvl="1" marL="10287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Noto Sans Symbols"/>
                <a:buChar char="⮚"/>
              </a:pPr>
              <a:r>
                <a:rPr b="0" i="0" lang="en-US" sz="3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75% less heat production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9144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45720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Arial"/>
                <a:buChar char="●"/>
              </a:pPr>
              <a:r>
                <a:rPr b="0" i="0" lang="en-US" sz="3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Support 70% smaller footprint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45720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Arial"/>
                <a:buChar char="●"/>
              </a:pPr>
              <a:r>
                <a:rPr b="0" i="0" lang="en-US" sz="3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Support a higher efficient system</a:t>
              </a:r>
              <a:endPara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571500" lvl="1" marL="10287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Noto Sans Symbols"/>
                <a:buChar char="⮚"/>
              </a:pPr>
              <a:r>
                <a:rPr b="0" i="0" lang="en-US" sz="3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99.999% more reliable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571500" lvl="1" marL="10287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Noto Sans Symbols"/>
                <a:buChar char="⮚"/>
              </a:pPr>
              <a:r>
                <a:rPr b="0" i="0" lang="en-US" sz="3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Never been hacked – Quantum Safe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g3141e128008_0_0"/>
            <p:cNvSpPr/>
            <p:nvPr/>
          </p:nvSpPr>
          <p:spPr>
            <a:xfrm>
              <a:off x="2207755" y="22916321"/>
              <a:ext cx="10418791" cy="1220100"/>
            </a:xfrm>
            <a:prstGeom prst="parallelogram">
              <a:avLst>
                <a:gd fmla="val 25000" name="adj"/>
              </a:avLst>
            </a:prstGeom>
            <a:solidFill>
              <a:srgbClr val="FFC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rPr b="1" i="0" lang="en-US" sz="4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Social Value</a:t>
              </a:r>
              <a:endParaRPr b="1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2" name="Google Shape;102;g3141e128008_0_0"/>
          <p:cNvGrpSpPr/>
          <p:nvPr/>
        </p:nvGrpSpPr>
        <p:grpSpPr>
          <a:xfrm>
            <a:off x="31206628" y="6346809"/>
            <a:ext cx="11691900" cy="9138183"/>
            <a:chOff x="30703255" y="6354963"/>
            <a:chExt cx="11691900" cy="13157932"/>
          </a:xfrm>
        </p:grpSpPr>
        <p:sp>
          <p:nvSpPr>
            <p:cNvPr id="103" name="Google Shape;103;g3141e128008_0_0"/>
            <p:cNvSpPr txBox="1"/>
            <p:nvPr/>
          </p:nvSpPr>
          <p:spPr>
            <a:xfrm>
              <a:off x="30703255" y="7522495"/>
              <a:ext cx="11691900" cy="11990400"/>
            </a:xfrm>
            <a:prstGeom prst="rect">
              <a:avLst/>
            </a:prstGeom>
            <a:noFill/>
            <a:ln cap="flat" cmpd="sng" w="76200">
              <a:solidFill>
                <a:srgbClr val="FFC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228600" lIns="457200" spcFirstLastPara="1" rIns="457200" wrap="square" tIns="457200">
              <a:spAutoFit/>
            </a:bodyPr>
            <a:lstStyle/>
            <a:p>
              <a:pPr indent="-45720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000"/>
                <a:buFont typeface="Arial"/>
                <a:buChar char="●"/>
              </a:pPr>
              <a:r>
                <a:rPr b="0" i="0" lang="en-US" sz="3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General Concepts</a:t>
              </a:r>
              <a:endPara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45720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000"/>
                <a:buFont typeface="Arial"/>
                <a:buChar char="●"/>
              </a:pPr>
              <a:r>
                <a:rPr b="0" i="0" lang="en-US" sz="3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Basic z/OS architecture</a:t>
              </a:r>
              <a:endPara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45720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000"/>
                <a:buFont typeface="Arial"/>
                <a:buChar char="●"/>
              </a:pPr>
              <a:r>
                <a:rPr b="0" i="0" lang="en-US" sz="3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Interactive System Productivity Facility (ISPF)</a:t>
              </a:r>
              <a:endPara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45720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000"/>
                <a:buFont typeface="Arial"/>
                <a:buChar char="●"/>
              </a:pPr>
              <a:r>
                <a:rPr b="0" i="0" lang="en-US" sz="3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System Display and Search Facility (SDSF)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0320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000"/>
                <a:buFont typeface="Arial"/>
                <a:buNone/>
              </a:pPr>
              <a:r>
                <a:t/>
              </a:r>
              <a:endPara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45720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000"/>
                <a:buFont typeface="Arial"/>
                <a:buChar char="●"/>
              </a:pPr>
              <a:r>
                <a:rPr b="0" i="0" lang="en-US" sz="3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TSO (Time Share Option)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0320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000"/>
                <a:buFont typeface="Arial"/>
                <a:buNone/>
              </a:pPr>
              <a:r>
                <a:t/>
              </a:r>
              <a:endPara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45720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000"/>
                <a:buFont typeface="Arial"/>
                <a:buChar char="●"/>
              </a:pPr>
              <a:r>
                <a:rPr b="0" i="0" lang="en-US" sz="3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Job Control Language (JCL)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0320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000"/>
                <a:buFont typeface="Arial"/>
                <a:buNone/>
              </a:pPr>
              <a:r>
                <a:t/>
              </a:r>
              <a:endPara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45720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000"/>
                <a:buFont typeface="Arial"/>
                <a:buChar char="●"/>
              </a:pPr>
              <a:r>
                <a:rPr b="0" i="0" lang="en-US" sz="3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Unix Systems Services (USS)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g3141e128008_0_0"/>
            <p:cNvSpPr/>
            <p:nvPr/>
          </p:nvSpPr>
          <p:spPr>
            <a:xfrm>
              <a:off x="31594264" y="6354963"/>
              <a:ext cx="9909890" cy="1756861"/>
            </a:xfrm>
            <a:prstGeom prst="parallelogram">
              <a:avLst>
                <a:gd fmla="val 25000" name="adj"/>
              </a:avLst>
            </a:prstGeom>
            <a:solidFill>
              <a:srgbClr val="FFC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rPr b="1" i="0" lang="en-US" sz="4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Curriculum</a:t>
              </a:r>
              <a:endParaRPr b="1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5" name="Google Shape;105;g3141e128008_0_0"/>
          <p:cNvGrpSpPr/>
          <p:nvPr/>
        </p:nvGrpSpPr>
        <p:grpSpPr>
          <a:xfrm>
            <a:off x="31553322" y="23138196"/>
            <a:ext cx="11345752" cy="5110083"/>
            <a:chOff x="3146892" y="7236064"/>
            <a:chExt cx="11345752" cy="5110083"/>
          </a:xfrm>
        </p:grpSpPr>
        <p:sp>
          <p:nvSpPr>
            <p:cNvPr id="106" name="Google Shape;106;g3141e128008_0_0"/>
            <p:cNvSpPr/>
            <p:nvPr/>
          </p:nvSpPr>
          <p:spPr>
            <a:xfrm>
              <a:off x="3892754" y="7236064"/>
              <a:ext cx="9909890" cy="1220100"/>
            </a:xfrm>
            <a:prstGeom prst="parallelogram">
              <a:avLst>
                <a:gd fmla="val 25000" name="adj"/>
              </a:avLst>
            </a:prstGeom>
            <a:solidFill>
              <a:srgbClr val="FFC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rPr b="1" i="0" lang="en-US" sz="4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Next Steps</a:t>
              </a:r>
              <a:endParaRPr b="1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g3141e128008_0_0"/>
            <p:cNvSpPr txBox="1"/>
            <p:nvPr/>
          </p:nvSpPr>
          <p:spPr>
            <a:xfrm>
              <a:off x="3146892" y="8268108"/>
              <a:ext cx="11345752" cy="4078039"/>
            </a:xfrm>
            <a:prstGeom prst="rect">
              <a:avLst/>
            </a:prstGeom>
            <a:noFill/>
            <a:ln cap="flat" cmpd="sng" w="76200">
              <a:solidFill>
                <a:srgbClr val="FFC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228600" lIns="457200" spcFirstLastPara="1" rIns="457200" wrap="square" tIns="457200">
              <a:spAutoFit/>
            </a:bodyPr>
            <a:lstStyle/>
            <a:p>
              <a:pPr indent="-45720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000"/>
                <a:buFont typeface="Arial"/>
                <a:buChar char="●"/>
              </a:pPr>
              <a:r>
                <a:rPr b="0" i="0" lang="en-US" sz="3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Review and integrate with Bank of America, East Carolina University, and Northern Illinois University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45720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000"/>
                <a:buFont typeface="Arial"/>
                <a:buChar char="●"/>
              </a:pPr>
              <a:r>
                <a:rPr b="0" i="0" lang="en-US" sz="3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Integrate labs on the z/16 into the learning modules</a:t>
              </a:r>
              <a:endPara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08" name="Google Shape;108;g3141e128008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063703" y="28602026"/>
            <a:ext cx="3028950" cy="339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g3141e128008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252024" y="28657013"/>
            <a:ext cx="4281918" cy="3335913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g3141e128008_0_0"/>
          <p:cNvSpPr/>
          <p:nvPr/>
        </p:nvSpPr>
        <p:spPr>
          <a:xfrm>
            <a:off x="15183274" y="6255192"/>
            <a:ext cx="14730669" cy="1220099"/>
          </a:xfrm>
          <a:prstGeom prst="parallelogram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Illustrations</a:t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room with rows of computer servers&#10;&#10;Description automatically generated" id="111" name="Google Shape;111;g3141e128008_0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181408" y="15428526"/>
            <a:ext cx="14883590" cy="4771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g3141e128008_0_0" title="Screenshot 2025-03-25 141852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172175" y="21394328"/>
            <a:ext cx="14883601" cy="78644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2013 - 2022 Theme">
  <a:themeElements>
    <a:clrScheme name="Office 2013 - 2022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2018-02-06T18:12:23Z</dcterms:created>
  <dc:creator>Microsoft Office User</dc:creator>
</cp:coreProperties>
</file>